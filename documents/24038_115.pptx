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FC2A0E-1529-43B1-BD05-ED1351E92AD3}" v="89" dt="2026-07-21T17:21:32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F11AB-EA44-4C42-86BC-2EFA6A59365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42524-17A1-48CD-9551-6BC63008A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63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42524-17A1-48CD-9551-6BC63008A0D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407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42524-17A1-48CD-9551-6BC63008A0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1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7DC9-5D78-1797-AD19-6F4C9B43C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652BB-C9E4-2BCA-B21F-C5A3CEB6D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68F22-0E0E-14E3-D34E-EC7073D5C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43D92-665A-5E30-BD0F-586EADAB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54B94-C346-8F45-1982-90E4AF80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92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263D-851C-5DA3-8474-20FF2408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F78F-3FDC-429D-FC60-C5049B142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57B7-A0CC-1B95-212E-1298AA1D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C820B-689A-D59D-C7DC-91F28298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856D1-7874-1DD9-40DB-3F88B374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26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847A-289E-B0B0-D96F-23987CC3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36AC2-1EF5-726B-BF55-ED15AC03C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B1C9A-6E23-A7CF-7390-06D4F3B9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62E9-3095-ED0C-69E3-2255C886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4A77C-350A-FE15-4C96-01385FAF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57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1049-3040-C99B-3E1D-74AC93FF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F4B2-0AF6-AD8D-9C7C-158DDECCD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A2D68-9F9C-E038-F79A-5A00555A0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A5AB2-FAC6-9B5D-3B65-BA22947D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97D8F-D947-63BF-920B-2D2EE9BA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757B5-AAFF-B5BF-53EB-20B6F348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16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8A76-14F9-D091-71C0-5FC00FC6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AB39C-C66C-9CBF-6F70-CCEDED8CE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39314-0C0D-DA24-F6F7-923D94C3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86749-8E20-86BD-404C-90D2DE381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36268-EAEB-A274-7C32-2977AEC5D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D2017-E38F-1D9A-27DB-F9BCF42B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AC8CAD-5ED3-F181-721F-ECDFDF53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56B9B-986B-F94B-DA0E-79EBF2E3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842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6764-D1EF-DE7A-0B7F-2FE59F86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E6B82-2BDB-0336-D1FD-147F260D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1D480-DE51-63BB-A972-383295DE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024A8-4A7B-79D2-42A8-5D7426B9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17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B73EBE-060E-D0E4-DF65-14360CCA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A5F0A-2FA0-6F4A-B665-C7248E71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2C5AF-3640-D665-CD2C-D8782EA0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20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3ECD-199C-7408-84A3-2A63524EB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09769-C1FB-80EC-603E-045D24C6A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1F699-9EBE-FC3A-FB47-110DE6F56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35F43-66CA-8D52-36D2-A7FF2E93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045E8-2391-B76F-CB43-878EFBF6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229BB-F6A3-1F2D-227F-B3891059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18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1EA2-3D25-E865-BD57-E774FE17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0DC6C1-E69F-396E-A451-94F8BF538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AF26A-6A40-C873-0136-7186EEE4E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A0247-7B7B-B564-C783-BDD7504A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A9BA8-37E0-8CF9-1B89-70E1523D0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705ED-98AE-796D-5D11-BBD15D82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72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DAB8-D750-8D2F-A19B-0EACFD8F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534B7-F556-5CFB-FC4C-00DA4DBC8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6E829-5BC1-DF66-4462-764D1F8D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D8C11-DB2B-2E17-DCBB-0955778D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B2C2F-D868-0BCC-9DB9-3AB8B517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25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64248-4F7F-3145-E290-4D9BD2644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003F1-155C-DE12-4DBF-27B03F5C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84F74-7049-2AD6-FBE1-C7FADB79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8937-32BE-3C8B-02D2-35B7733D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16C40-B6C5-AD5A-A977-D739968B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2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CCEEC-48A9-296E-22AC-63583B8C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5D767-F92F-582C-23A9-D07900A8E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B06D5-33D2-13AD-7B24-12F6D65E8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BD66F-7FBB-4E5A-B60C-F016A2386A6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3FBE-93FA-5CAC-E466-5FD3F244F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0234-0F7E-84C4-8511-15FA67A89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49E5A-AF6A-4FB3-8F3D-82C0847B6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2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E42249-3B87-1D0D-2AF2-3A8889897F8E}"/>
              </a:ext>
            </a:extLst>
          </p:cNvPr>
          <p:cNvSpPr/>
          <p:nvPr/>
        </p:nvSpPr>
        <p:spPr>
          <a:xfrm>
            <a:off x="204216" y="335845"/>
            <a:ext cx="11783568" cy="61863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74732-B634-95BE-B454-B526662A9C35}"/>
              </a:ext>
            </a:extLst>
          </p:cNvPr>
          <p:cNvSpPr txBox="1"/>
          <p:nvPr/>
        </p:nvSpPr>
        <p:spPr>
          <a:xfrm>
            <a:off x="204216" y="382611"/>
            <a:ext cx="1178356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</a:t>
            </a:r>
            <a:r>
              <a:rPr lang="en-IN" sz="2400" b="1" dirty="0"/>
              <a:t>115 . Math-LLMs: AI Cyberinfrastructure with Pre-trained</a:t>
            </a:r>
          </a:p>
          <a:p>
            <a:r>
              <a:rPr lang="en-IN" sz="2400" b="1" dirty="0"/>
              <a:t>                                                   Transformers for Math Education</a:t>
            </a:r>
          </a:p>
          <a:p>
            <a:endParaRPr lang="en-IN" sz="2000" b="1" dirty="0"/>
          </a:p>
          <a:p>
            <a:r>
              <a:rPr lang="en-IN" b="1" dirty="0"/>
              <a:t>Problem Statement:</a:t>
            </a:r>
          </a:p>
          <a:p>
            <a:r>
              <a:rPr lang="en-IN" sz="1600" dirty="0"/>
              <a:t>Traditional Large Language Models such as </a:t>
            </a:r>
            <a:r>
              <a:rPr lang="en-IN" sz="1600" b="1" dirty="0"/>
              <a:t>GPT</a:t>
            </a:r>
            <a:r>
              <a:rPr lang="en-IN" sz="1600" dirty="0"/>
              <a:t> and </a:t>
            </a:r>
            <a:r>
              <a:rPr lang="en-IN" sz="1600" b="1" dirty="0"/>
              <a:t>Llama</a:t>
            </a:r>
            <a:r>
              <a:rPr lang="en-IN" sz="1600" dirty="0"/>
              <a:t> are trained on general text and often </a:t>
            </a:r>
            <a:r>
              <a:rPr lang="en-IN" sz="1600" b="1" dirty="0"/>
              <a:t>struggle with mathematical reasoning</a:t>
            </a:r>
            <a:r>
              <a:rPr lang="en-IN" sz="1600" dirty="0"/>
              <a:t>, educational conversations, and personalized student guidance.</a:t>
            </a:r>
          </a:p>
          <a:p>
            <a:endParaRPr lang="en-IN" sz="1600" dirty="0"/>
          </a:p>
          <a:p>
            <a:r>
              <a:rPr lang="en-IN" b="1" dirty="0"/>
              <a:t>Existing math datasets mainly contain: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Mathematical problems and solutions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Scientific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AI-generated datasets</a:t>
            </a:r>
          </a:p>
          <a:p>
            <a:r>
              <a:rPr lang="en-IN" sz="1600" dirty="0"/>
              <a:t>They do </a:t>
            </a:r>
            <a:r>
              <a:rPr lang="en-IN" sz="1600" b="1" dirty="0"/>
              <a:t>not</a:t>
            </a:r>
            <a:r>
              <a:rPr lang="en-IN" sz="1600" dirty="0"/>
              <a:t> contain authentic student–teacher mathematical conversations.</a:t>
            </a:r>
          </a:p>
          <a:p>
            <a:endParaRPr lang="en-IN" sz="1600" dirty="0"/>
          </a:p>
          <a:p>
            <a:r>
              <a:rPr lang="en-IN" b="1" dirty="0"/>
              <a:t>Real-World Need:</a:t>
            </a:r>
          </a:p>
          <a:p>
            <a:r>
              <a:rPr lang="en-IN" sz="1600" dirty="0"/>
              <a:t>The education sector requires AI tutors that 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Understand mathematics deeply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Explain concepts naturally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 </a:t>
            </a:r>
            <a:r>
              <a:rPr lang="en-IN" sz="1600" b="1" dirty="0"/>
              <a:t>personalized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K-12 learning</a:t>
            </a:r>
          </a:p>
          <a:p>
            <a:endParaRPr lang="en-IN" sz="1600" dirty="0"/>
          </a:p>
          <a:p>
            <a:r>
              <a:rPr lang="en-IN" sz="1600" b="1" dirty="0"/>
              <a:t>Key Takeaway:</a:t>
            </a:r>
            <a:r>
              <a:rPr lang="en-IN" sz="1600" dirty="0"/>
              <a:t> General-purpose LLMs are not sufficient for mathematics</a:t>
            </a:r>
          </a:p>
          <a:p>
            <a:r>
              <a:rPr lang="en-IN" sz="1600" dirty="0"/>
              <a:t> education, motivating the development of specialized </a:t>
            </a:r>
            <a:r>
              <a:rPr lang="en-IN" sz="1600" b="1" dirty="0"/>
              <a:t>Math-LLMs</a:t>
            </a:r>
            <a:r>
              <a:rPr lang="en-IN" sz="1600" dirty="0"/>
              <a:t>.</a:t>
            </a:r>
            <a:endParaRPr lang="en-IN" sz="1600" b="1" dirty="0"/>
          </a:p>
          <a:p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91A249-24E1-C787-0F73-D82DF0718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995483"/>
            <a:ext cx="5230367" cy="4526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AAB17F-9206-5A6F-33E1-98814064C5EA}"/>
              </a:ext>
            </a:extLst>
          </p:cNvPr>
          <p:cNvSpPr txBox="1"/>
          <p:nvPr/>
        </p:nvSpPr>
        <p:spPr>
          <a:xfrm>
            <a:off x="109728" y="0"/>
            <a:ext cx="46133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Development of Specialized Math-LLMs for </a:t>
            </a:r>
            <a:r>
              <a:rPr lang="en-IN" sz="1400" b="1" dirty="0"/>
              <a:t>Mathematics</a:t>
            </a:r>
            <a:r>
              <a:rPr lang="en-IN" sz="1200" b="1" dirty="0"/>
              <a:t> Education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7F250-F59A-5DA1-5105-F7D9DAD5B38A}"/>
              </a:ext>
            </a:extLst>
          </p:cNvPr>
          <p:cNvSpPr txBox="1"/>
          <p:nvPr/>
        </p:nvSpPr>
        <p:spPr>
          <a:xfrm>
            <a:off x="9704915" y="6550223"/>
            <a:ext cx="230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ROLL NO-CH.SC.U4CSE24038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6241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6B5E5-80DB-D9FD-812E-9AE473D50DB7}"/>
              </a:ext>
            </a:extLst>
          </p:cNvPr>
          <p:cNvSpPr/>
          <p:nvPr/>
        </p:nvSpPr>
        <p:spPr>
          <a:xfrm>
            <a:off x="246888" y="274320"/>
            <a:ext cx="11658600" cy="63459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DB5C6-D5CB-0F3C-8867-767A101EAAC3}"/>
              </a:ext>
            </a:extLst>
          </p:cNvPr>
          <p:cNvSpPr txBox="1"/>
          <p:nvPr/>
        </p:nvSpPr>
        <p:spPr>
          <a:xfrm>
            <a:off x="246888" y="274320"/>
            <a:ext cx="116586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                                                     Understanding of the Problem</a:t>
            </a:r>
          </a:p>
          <a:p>
            <a:endParaRPr lang="en-IN" sz="1600" dirty="0"/>
          </a:p>
          <a:p>
            <a:r>
              <a:rPr lang="en-IN" b="1" dirty="0"/>
              <a:t>Objective:</a:t>
            </a:r>
          </a:p>
          <a:p>
            <a:r>
              <a:rPr lang="en-IN" sz="1600" dirty="0"/>
              <a:t>Develop specialized </a:t>
            </a:r>
            <a:r>
              <a:rPr lang="en-IN" sz="1600" b="1" dirty="0"/>
              <a:t>Math-LLMs</a:t>
            </a:r>
            <a:r>
              <a:rPr lang="en-IN" sz="1600" dirty="0"/>
              <a:t> by pre-training Large Language Models on authentic </a:t>
            </a:r>
            <a:r>
              <a:rPr lang="en-IN" sz="1600" b="1" dirty="0"/>
              <a:t>K–12 mathematical discussions</a:t>
            </a:r>
            <a:r>
              <a:rPr lang="en-IN" sz="1600" dirty="0"/>
              <a:t> to improve mathematical reasoning and educational assistance.                                                          </a:t>
            </a:r>
          </a:p>
          <a:p>
            <a:r>
              <a:rPr lang="en-IN" sz="2000" dirty="0"/>
              <a:t>                                                                                                                                   </a:t>
            </a:r>
            <a:r>
              <a:rPr lang="en-IN" sz="2000" b="1" dirty="0"/>
              <a:t>Proposed Workflow</a:t>
            </a:r>
          </a:p>
          <a:p>
            <a:r>
              <a:rPr lang="en-IN" b="1" dirty="0"/>
              <a:t>Why Existing LLMs Fall Short: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Trained on </a:t>
            </a:r>
            <a:r>
              <a:rPr lang="en-IN" sz="1600" b="1" dirty="0"/>
              <a:t>general internet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Limited understanding of </a:t>
            </a:r>
            <a:r>
              <a:rPr lang="en-IN" sz="1600" b="1" dirty="0"/>
              <a:t>mathematical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Cannot effectively understand </a:t>
            </a:r>
            <a:r>
              <a:rPr lang="en-IN" sz="1600" b="1" dirty="0"/>
              <a:t>student learning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 </a:t>
            </a:r>
            <a:r>
              <a:rPr lang="en-IN" sz="1600" b="1" dirty="0"/>
              <a:t>generic explanations</a:t>
            </a:r>
            <a:r>
              <a:rPr lang="en-IN" sz="1600" dirty="0"/>
              <a:t> instead of teacher-like guidance</a:t>
            </a:r>
          </a:p>
          <a:p>
            <a:endParaRPr lang="en-IN" sz="1600" dirty="0"/>
          </a:p>
          <a:p>
            <a:r>
              <a:rPr lang="en-IN" b="1" dirty="0"/>
              <a:t>Expected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Better at </a:t>
            </a:r>
            <a:r>
              <a:rPr lang="en-IN" sz="1600" b="1" dirty="0"/>
              <a:t>solving mathematics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Better at understanding </a:t>
            </a:r>
            <a:r>
              <a:rPr lang="en-IN" sz="1600" b="1" dirty="0"/>
              <a:t>student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Better at generating </a:t>
            </a:r>
            <a:r>
              <a:rPr lang="en-IN" sz="1600" b="1" dirty="0"/>
              <a:t>human-like explanations</a:t>
            </a:r>
          </a:p>
          <a:p>
            <a:endParaRPr lang="en-IN" sz="1600" b="1" dirty="0"/>
          </a:p>
          <a:p>
            <a:r>
              <a:rPr lang="en-IN" b="1" dirty="0"/>
              <a:t>Research Questions</a:t>
            </a:r>
          </a:p>
          <a:p>
            <a:r>
              <a:rPr lang="en-IN" b="1" dirty="0"/>
              <a:t>RQ1</a:t>
            </a:r>
            <a:r>
              <a:rPr lang="en-IN" dirty="0"/>
              <a:t>-</a:t>
            </a:r>
          </a:p>
          <a:p>
            <a:r>
              <a:rPr lang="en-IN" sz="1600" dirty="0"/>
              <a:t>Does increasing fine-tuning data improve performance?</a:t>
            </a:r>
          </a:p>
          <a:p>
            <a:r>
              <a:rPr lang="en-IN" b="1" dirty="0"/>
              <a:t>RQ2</a:t>
            </a:r>
            <a:endParaRPr lang="en-IN" sz="1600" b="1" dirty="0"/>
          </a:p>
          <a:p>
            <a:r>
              <a:rPr lang="en-IN" sz="1600" dirty="0"/>
              <a:t>Does mathematical pre-training improve downstream NLP tasks?</a:t>
            </a:r>
          </a:p>
          <a:p>
            <a:r>
              <a:rPr lang="en-IN" b="1" dirty="0"/>
              <a:t>RQ3</a:t>
            </a:r>
            <a:endParaRPr lang="en-IN" sz="1600" b="1" dirty="0"/>
          </a:p>
          <a:p>
            <a:r>
              <a:rPr lang="en-IN" sz="1600" dirty="0"/>
              <a:t>Does mathematical pre-training improve text generation?</a:t>
            </a:r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575BD-6DD2-FDF0-36AB-04084E56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84832"/>
            <a:ext cx="5376672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EA0BF1-D410-4F78-7C3D-9D6D9313E39C}"/>
              </a:ext>
            </a:extLst>
          </p:cNvPr>
          <p:cNvSpPr txBox="1"/>
          <p:nvPr/>
        </p:nvSpPr>
        <p:spPr>
          <a:xfrm>
            <a:off x="0" y="12710"/>
            <a:ext cx="5175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Development of Specialized Math-LLMs for Mathematics Education</a:t>
            </a: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80E7F-D86B-6B71-34B4-3B4D1F1D10B7}"/>
              </a:ext>
            </a:extLst>
          </p:cNvPr>
          <p:cNvSpPr txBox="1"/>
          <p:nvPr/>
        </p:nvSpPr>
        <p:spPr>
          <a:xfrm>
            <a:off x="9473184" y="6590626"/>
            <a:ext cx="230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ROLL NO-CH.SC.U4CSE24038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80628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328B7E-2C1B-906D-BC25-9C050D6531E0}"/>
              </a:ext>
            </a:extLst>
          </p:cNvPr>
          <p:cNvSpPr/>
          <p:nvPr/>
        </p:nvSpPr>
        <p:spPr>
          <a:xfrm>
            <a:off x="234696" y="274710"/>
            <a:ext cx="11722608" cy="63268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83117-19A2-D4B3-F0DB-100FF4DD3E0C}"/>
              </a:ext>
            </a:extLst>
          </p:cNvPr>
          <p:cNvSpPr txBox="1"/>
          <p:nvPr/>
        </p:nvSpPr>
        <p:spPr>
          <a:xfrm>
            <a:off x="0" y="-43795"/>
            <a:ext cx="51750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Development of Specialized Math-LLMs for Mathematics Education</a:t>
            </a:r>
          </a:p>
          <a:p>
            <a:endParaRPr lang="en-IN" sz="1400" b="1" dirty="0"/>
          </a:p>
          <a:p>
            <a:r>
              <a:rPr lang="en-IN" sz="1400" b="1" dirty="0"/>
              <a:t>                                                                         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16AF3-0763-49F7-FD98-5C4679DBDFE6}"/>
              </a:ext>
            </a:extLst>
          </p:cNvPr>
          <p:cNvSpPr txBox="1"/>
          <p:nvPr/>
        </p:nvSpPr>
        <p:spPr>
          <a:xfrm>
            <a:off x="9573768" y="6592824"/>
            <a:ext cx="230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ROLL NO-CH.SC.U4CSE24038</a:t>
            </a:r>
            <a:endParaRPr lang="en-IN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6521C-0A04-D604-E1CD-A9CFF8D05253}"/>
              </a:ext>
            </a:extLst>
          </p:cNvPr>
          <p:cNvSpPr txBox="1"/>
          <p:nvPr/>
        </p:nvSpPr>
        <p:spPr>
          <a:xfrm>
            <a:off x="234697" y="265176"/>
            <a:ext cx="1172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</a:t>
            </a:r>
            <a:r>
              <a:rPr lang="en-US" b="1" dirty="0"/>
              <a:t>DATASETS &amp; ML TECNIQUES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EA0A8A-81FA-4930-3E97-83A195E0C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838232"/>
              </p:ext>
            </p:extLst>
          </p:nvPr>
        </p:nvGraphicFramePr>
        <p:xfrm>
          <a:off x="363146" y="860450"/>
          <a:ext cx="11501604" cy="2621280"/>
        </p:xfrm>
        <a:graphic>
          <a:graphicData uri="http://schemas.openxmlformats.org/drawingml/2006/table">
            <a:tbl>
              <a:tblPr/>
              <a:tblGrid>
                <a:gridCol w="3116069">
                  <a:extLst>
                    <a:ext uri="{9D8B030D-6E8A-4147-A177-3AD203B41FA5}">
                      <a16:colId xmlns:a16="http://schemas.microsoft.com/office/drawing/2014/main" val="4239309387"/>
                    </a:ext>
                  </a:extLst>
                </a:gridCol>
                <a:gridCol w="3869544">
                  <a:extLst>
                    <a:ext uri="{9D8B030D-6E8A-4147-A177-3AD203B41FA5}">
                      <a16:colId xmlns:a16="http://schemas.microsoft.com/office/drawing/2014/main" val="4148897003"/>
                    </a:ext>
                  </a:extLst>
                </a:gridCol>
                <a:gridCol w="4515991">
                  <a:extLst>
                    <a:ext uri="{9D8B030D-6E8A-4147-A177-3AD203B41FA5}">
                      <a16:colId xmlns:a16="http://schemas.microsoft.com/office/drawing/2014/main" val="3894909002"/>
                    </a:ext>
                  </a:extLst>
                </a:gridCol>
              </a:tblGrid>
              <a:tr h="320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 DATASET</a:t>
                      </a:r>
                      <a:endParaRPr lang="en-IN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85566"/>
                  </a:ext>
                </a:extLst>
              </a:tr>
              <a:tr h="699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Algebra Nation (Math Nation)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Pre-train LLMs using authentic K–12 mathematical discussions (3.09M discussion–reply pairs, 71,918 users)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Improves mathematical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78304"/>
                  </a:ext>
                </a:extLst>
              </a:tr>
              <a:tr h="495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ASSISTments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Binary Classification (Correct/Incorrect student answers)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782112"/>
                  </a:ext>
                </a:extLst>
              </a:tr>
              <a:tr h="495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NCTE Classroom Transcript Dataset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Multi-label Classification (Teacher–Student dialogues)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Precision, Recall, 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51946"/>
                  </a:ext>
                </a:extLst>
              </a:tr>
              <a:tr h="495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Reserved Algebra Nation Dataset (1000 discussions)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Text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BLEURT, </a:t>
                      </a:r>
                      <a:r>
                        <a:rPr lang="en-IN" sz="1400" dirty="0" err="1"/>
                        <a:t>BERTScore</a:t>
                      </a:r>
                      <a:r>
                        <a:rPr lang="en-IN" sz="1400" dirty="0"/>
                        <a:t>, Readability, Coherence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8059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182E05-7073-522C-5B3E-0A9599DCD4BF}"/>
              </a:ext>
            </a:extLst>
          </p:cNvPr>
          <p:cNvSpPr txBox="1"/>
          <p:nvPr/>
        </p:nvSpPr>
        <p:spPr>
          <a:xfrm>
            <a:off x="318106" y="479059"/>
            <a:ext cx="7141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Datasets Used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C19791-8948-A169-F0D4-CCB7CB861C1A}"/>
              </a:ext>
            </a:extLst>
          </p:cNvPr>
          <p:cNvCxnSpPr>
            <a:cxnSpLocks/>
          </p:cNvCxnSpPr>
          <p:nvPr/>
        </p:nvCxnSpPr>
        <p:spPr>
          <a:xfrm>
            <a:off x="234696" y="3481730"/>
            <a:ext cx="103357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07120B-0555-3A10-4C65-F402358E588C}"/>
              </a:ext>
            </a:extLst>
          </p:cNvPr>
          <p:cNvCxnSpPr>
            <a:cxnSpLocks/>
          </p:cNvCxnSpPr>
          <p:nvPr/>
        </p:nvCxnSpPr>
        <p:spPr>
          <a:xfrm>
            <a:off x="393192" y="881396"/>
            <a:ext cx="101772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C85A2C-DFDF-96F2-87CC-A7C1E22992BC}"/>
              </a:ext>
            </a:extLst>
          </p:cNvPr>
          <p:cNvCxnSpPr>
            <a:cxnSpLocks/>
          </p:cNvCxnSpPr>
          <p:nvPr/>
        </p:nvCxnSpPr>
        <p:spPr>
          <a:xfrm>
            <a:off x="393192" y="1161288"/>
            <a:ext cx="101772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83879-8AF9-F4D0-234A-39CA8FA704BB}"/>
              </a:ext>
            </a:extLst>
          </p:cNvPr>
          <p:cNvCxnSpPr/>
          <p:nvPr/>
        </p:nvCxnSpPr>
        <p:spPr>
          <a:xfrm>
            <a:off x="7205472" y="881396"/>
            <a:ext cx="0" cy="2600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F9502A-509D-F486-7F55-BDEC92310E2C}"/>
              </a:ext>
            </a:extLst>
          </p:cNvPr>
          <p:cNvCxnSpPr>
            <a:cxnSpLocks/>
          </p:cNvCxnSpPr>
          <p:nvPr/>
        </p:nvCxnSpPr>
        <p:spPr>
          <a:xfrm>
            <a:off x="10570464" y="860450"/>
            <a:ext cx="0" cy="2621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083AF01-F402-2C92-8C0C-243D33A9B2AC}"/>
              </a:ext>
            </a:extLst>
          </p:cNvPr>
          <p:cNvCxnSpPr>
            <a:cxnSpLocks/>
          </p:cNvCxnSpPr>
          <p:nvPr/>
        </p:nvCxnSpPr>
        <p:spPr>
          <a:xfrm flipH="1">
            <a:off x="327250" y="881396"/>
            <a:ext cx="35896" cy="2666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C5F354-7E2D-1D52-C577-2502E242C32D}"/>
              </a:ext>
            </a:extLst>
          </p:cNvPr>
          <p:cNvCxnSpPr/>
          <p:nvPr/>
        </p:nvCxnSpPr>
        <p:spPr>
          <a:xfrm>
            <a:off x="3364992" y="881396"/>
            <a:ext cx="0" cy="2600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F1B3F5E-CBFD-BF38-36A6-4B2B2F5D3381}"/>
              </a:ext>
            </a:extLst>
          </p:cNvPr>
          <p:cNvSpPr txBox="1"/>
          <p:nvPr/>
        </p:nvSpPr>
        <p:spPr>
          <a:xfrm>
            <a:off x="234695" y="3576955"/>
            <a:ext cx="517507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ML Techniques Proposed                          </a:t>
            </a:r>
          </a:p>
          <a:p>
            <a:endParaRPr lang="en-IN" b="1" dirty="0"/>
          </a:p>
          <a:p>
            <a:r>
              <a:rPr lang="en-IN" sz="1400" b="1" dirty="0"/>
              <a:t>1)Transformer-based Large Language Models (LLMs)                      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Models used: </a:t>
            </a:r>
            <a:r>
              <a:rPr lang="en-IN" sz="1400" b="1" dirty="0"/>
              <a:t>GPT-J, Llama, Llama-2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Understand mathematical context and natural language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Serve as the base models for training</a:t>
            </a:r>
            <a:r>
              <a:rPr lang="en-IN" sz="1400" b="1" dirty="0"/>
              <a:t>          </a:t>
            </a:r>
          </a:p>
          <a:p>
            <a:r>
              <a:rPr lang="en-IN" sz="1400" b="1" dirty="0"/>
              <a:t>2)</a:t>
            </a:r>
            <a:r>
              <a:rPr lang="en-IN" sz="1400" dirty="0"/>
              <a:t> </a:t>
            </a:r>
            <a:r>
              <a:rPr lang="en-IN" sz="1400" b="1" dirty="0"/>
              <a:t>Pre-training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Learns mathematical reasoning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Understands student–teacher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Improves domain knowledge before fine-tuning</a:t>
            </a:r>
          </a:p>
          <a:p>
            <a:r>
              <a:rPr lang="en-IN" sz="1400" b="1" dirty="0"/>
              <a:t>3) Fine-tuning</a:t>
            </a:r>
          </a:p>
          <a:p>
            <a:r>
              <a:rPr lang="en-IN" sz="1400" dirty="0"/>
              <a:t>The pre-trained models are adapted to perform specific NLP tasks.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Binary Classification 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endParaRPr lang="en-IN" sz="1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EF618D-624E-3DC0-B313-A67C79000B27}"/>
              </a:ext>
            </a:extLst>
          </p:cNvPr>
          <p:cNvSpPr txBox="1"/>
          <p:nvPr/>
        </p:nvSpPr>
        <p:spPr>
          <a:xfrm>
            <a:off x="6643119" y="3971358"/>
            <a:ext cx="586129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Multi-label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Text Generation</a:t>
            </a:r>
          </a:p>
          <a:p>
            <a:r>
              <a:rPr lang="en-IN" sz="1400" b="1" dirty="0"/>
              <a:t>4)</a:t>
            </a:r>
            <a:r>
              <a:rPr lang="en-IN" sz="1400" dirty="0"/>
              <a:t> </a:t>
            </a:r>
            <a:r>
              <a:rPr lang="en-IN" sz="1400" b="1" dirty="0" err="1"/>
              <a:t>LoRA</a:t>
            </a:r>
            <a:r>
              <a:rPr lang="en-IN" sz="1400" b="1" dirty="0"/>
              <a:t> (Low-Rank Adaptation)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Efficient fine-tuning technique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Reduces GPU memory usage</a:t>
            </a:r>
            <a:endParaRPr lang="en-IN" sz="1400" b="1" dirty="0"/>
          </a:p>
          <a:p>
            <a:r>
              <a:rPr lang="en-IN" sz="1400" b="1" dirty="0"/>
              <a:t>5)</a:t>
            </a:r>
            <a:r>
              <a:rPr lang="en-IN" sz="1400" dirty="0"/>
              <a:t> </a:t>
            </a:r>
            <a:r>
              <a:rPr lang="en-IN" sz="1400" b="1" dirty="0"/>
              <a:t>Q-</a:t>
            </a:r>
            <a:r>
              <a:rPr lang="en-IN" sz="1400" b="1" dirty="0" err="1"/>
              <a:t>LoRA</a:t>
            </a:r>
            <a:r>
              <a:rPr lang="en-IN" sz="1400" b="1" dirty="0"/>
              <a:t> (Quantized </a:t>
            </a:r>
            <a:r>
              <a:rPr lang="en-IN" sz="1400" b="1" dirty="0" err="1"/>
              <a:t>LoRA</a:t>
            </a:r>
            <a:r>
              <a:rPr lang="en-IN" sz="14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Uses quantized weights to </a:t>
            </a:r>
            <a:r>
              <a:rPr lang="en-IN" sz="1400"/>
              <a:t>updated parameters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Lower memory requirements</a:t>
            </a:r>
            <a:endParaRPr lang="en-IN" sz="1400" b="1" dirty="0"/>
          </a:p>
          <a:p>
            <a:r>
              <a:rPr lang="en-IN" sz="1400" b="1" dirty="0"/>
              <a:t>6)</a:t>
            </a:r>
            <a:r>
              <a:rPr lang="en-IN" sz="1400" dirty="0"/>
              <a:t> </a:t>
            </a:r>
            <a:r>
              <a:rPr lang="en-IN" sz="1400" b="1" dirty="0"/>
              <a:t>Adam 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Updates model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Faster convergence</a:t>
            </a:r>
            <a:endParaRPr lang="en-IN" sz="1400" b="1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4D5C5FF-0586-3C78-3D40-FAA2C8AC2B7A}"/>
              </a:ext>
            </a:extLst>
          </p:cNvPr>
          <p:cNvCxnSpPr/>
          <p:nvPr/>
        </p:nvCxnSpPr>
        <p:spPr>
          <a:xfrm>
            <a:off x="5402580" y="4097561"/>
            <a:ext cx="7185" cy="2175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0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C60591-2901-74A1-53BA-F3CC0A567E40}"/>
              </a:ext>
            </a:extLst>
          </p:cNvPr>
          <p:cNvSpPr/>
          <p:nvPr/>
        </p:nvSpPr>
        <p:spPr>
          <a:xfrm>
            <a:off x="262128" y="276998"/>
            <a:ext cx="11667744" cy="63432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84129-40C7-466C-8109-F480B4C933C6}"/>
              </a:ext>
            </a:extLst>
          </p:cNvPr>
          <p:cNvSpPr txBox="1"/>
          <p:nvPr/>
        </p:nvSpPr>
        <p:spPr>
          <a:xfrm>
            <a:off x="173736" y="0"/>
            <a:ext cx="4471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Development of Specialized Math-LLMs for Mathematics Education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68792-7173-3E81-F45A-1D76AA61444E}"/>
              </a:ext>
            </a:extLst>
          </p:cNvPr>
          <p:cNvSpPr txBox="1"/>
          <p:nvPr/>
        </p:nvSpPr>
        <p:spPr>
          <a:xfrm>
            <a:off x="10008803" y="6581001"/>
            <a:ext cx="2009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ROLL NO-CH.SC.U4CSE24038</a:t>
            </a:r>
            <a:endParaRPr lang="en-IN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BCA68-0612-A014-5169-1D1A95ADB41B}"/>
              </a:ext>
            </a:extLst>
          </p:cNvPr>
          <p:cNvSpPr txBox="1"/>
          <p:nvPr/>
        </p:nvSpPr>
        <p:spPr>
          <a:xfrm>
            <a:off x="326136" y="679333"/>
            <a:ext cx="112806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                                                                 Interpretation of the Solution</a:t>
            </a:r>
            <a:endParaRPr lang="en-IN" sz="1600" b="1" dirty="0"/>
          </a:p>
          <a:p>
            <a:endParaRPr lang="en-IN" sz="1600" b="1" dirty="0"/>
          </a:p>
          <a:p>
            <a:r>
              <a:rPr lang="en-IN" sz="1600" dirty="0"/>
              <a:t>The proposed solution improves existing LLMs by training them on authentic </a:t>
            </a:r>
            <a:r>
              <a:rPr lang="en-IN" sz="1600" b="1" dirty="0"/>
              <a:t>K–12 mathematical discussions.</a:t>
            </a:r>
          </a:p>
          <a:p>
            <a:r>
              <a:rPr lang="en-IN" sz="16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Pre-trained </a:t>
            </a:r>
            <a:r>
              <a:rPr lang="en-IN" sz="1600" b="1" dirty="0"/>
              <a:t>GPT-J, Llama,</a:t>
            </a:r>
            <a:r>
              <a:rPr lang="en-IN" sz="1600" dirty="0"/>
              <a:t> and </a:t>
            </a:r>
            <a:r>
              <a:rPr lang="en-IN" sz="1600" b="1" dirty="0"/>
              <a:t>Llama-2</a:t>
            </a:r>
            <a:r>
              <a:rPr lang="en-IN" sz="1600" dirty="0"/>
              <a:t> on authentic </a:t>
            </a:r>
            <a:r>
              <a:rPr lang="en-IN" sz="1600" b="1" dirty="0"/>
              <a:t>K–12 mathematical discussions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Fine-tuned the models for </a:t>
            </a:r>
            <a:r>
              <a:rPr lang="en-IN" sz="1600" b="1" dirty="0"/>
              <a:t>binary classification, multi-label classification</a:t>
            </a:r>
            <a:r>
              <a:rPr lang="en-IN" sz="1600" dirty="0"/>
              <a:t>, and </a:t>
            </a:r>
            <a:r>
              <a:rPr lang="en-IN" sz="1600" b="1" dirty="0"/>
              <a:t>text generation</a:t>
            </a:r>
            <a:r>
              <a:rPr lang="en-IN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Compared the pre-trained models with the original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Pre-trained models achieved better </a:t>
            </a:r>
            <a:r>
              <a:rPr lang="en-IN" sz="1600" b="1" dirty="0"/>
              <a:t>mathematical reasoning </a:t>
            </a:r>
            <a:r>
              <a:rPr lang="en-IN" sz="1600" dirty="0"/>
              <a:t>and more </a:t>
            </a:r>
            <a:r>
              <a:rPr lang="en-IN" sz="1600" b="1" dirty="0"/>
              <a:t>natural educational responses</a:t>
            </a:r>
            <a:r>
              <a:rPr lang="en-IN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27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D8C72C1938464EAF96C057BE132019" ma:contentTypeVersion="6" ma:contentTypeDescription="Create a new document." ma:contentTypeScope="" ma:versionID="1916f3e307a1ccf1aa6a03e4817f9857">
  <xsd:schema xmlns:xsd="http://www.w3.org/2001/XMLSchema" xmlns:xs="http://www.w3.org/2001/XMLSchema" xmlns:p="http://schemas.microsoft.com/office/2006/metadata/properties" xmlns:ns3="0ba0eab4-d43e-4f70-a1c3-831c7838c576" targetNamespace="http://schemas.microsoft.com/office/2006/metadata/properties" ma:root="true" ma:fieldsID="6a238324fda3b18827d4201c5c28c4a2" ns3:_="">
    <xsd:import namespace="0ba0eab4-d43e-4f70-a1c3-831c7838c57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0eab4-d43e-4f70-a1c3-831c7838c57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a0eab4-d43e-4f70-a1c3-831c7838c576" xsi:nil="true"/>
  </documentManagement>
</p:properties>
</file>

<file path=customXml/itemProps1.xml><?xml version="1.0" encoding="utf-8"?>
<ds:datastoreItem xmlns:ds="http://schemas.openxmlformats.org/officeDocument/2006/customXml" ds:itemID="{9742C0D6-55BE-45D2-A531-73DE1CF19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7C7AFC-0153-4776-8E3D-525151CDD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a0eab4-d43e-4f70-a1c3-831c7838c5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7EFDA3-6468-415E-8038-575728B90324}">
  <ds:schemaRefs>
    <ds:schemaRef ds:uri="http://schemas.openxmlformats.org/package/2006/metadata/core-properties"/>
    <ds:schemaRef ds:uri="0ba0eab4-d43e-4f70-a1c3-831c7838c576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542</Words>
  <Application>Microsoft Office PowerPoint</Application>
  <PresentationFormat>Widescreen</PresentationFormat>
  <Paragraphs>108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KUSUMA REDDY-[CH.SC.U4CSE24038]</dc:creator>
  <cp:lastModifiedBy>S KUSUMA REDDY-[CH.SC.U4CSE24038]</cp:lastModifiedBy>
  <cp:revision>2</cp:revision>
  <dcterms:created xsi:type="dcterms:W3CDTF">2026-07-19T08:07:51Z</dcterms:created>
  <dcterms:modified xsi:type="dcterms:W3CDTF">2026-07-22T02:05:28Z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0x010100F3D8C72C1938464EAF96C057BE132019</vt:lpwstr>
  </property>
</Properties>
</file>